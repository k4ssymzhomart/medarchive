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4" y="1371600"/>
            <a:ext cx="1280160" cy="1280160"/>
          </a:xfrm>
          <a:prstGeom prst="roundRect">
            <a:avLst>
              <a:gd name="adj" fmla="val 21429"/>
            </a:avLst>
          </a:prstGeom>
          <a:solidFill>
            <a:srgbClr val="6D5EF6"/>
          </a:solidFill>
          <a:ln/>
          <a:effectLst>
            <a:outerShdw sx="100000" sy="100000" kx="0" ky="0" algn="bl" rotWithShape="0" blurRad="228600" dist="50800" dir="5400000">
              <a:srgbClr val="4B3FD6">
                <a:alpha val="5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44" y="164592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MedPartners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914400" y="3950208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Единая база услуг и цен клиник партнёров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1935328" y="4754880"/>
            <a:ext cx="2414016" cy="420624"/>
          </a:xfrm>
          <a:prstGeom prst="roundRect">
            <a:avLst>
              <a:gd name="adj" fmla="val 50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35328" y="4754880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Конвейер доверия к данным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05376" y="4754880"/>
            <a:ext cx="1152144" cy="420624"/>
          </a:xfrm>
          <a:prstGeom prst="roundRect">
            <a:avLst>
              <a:gd name="adj" fmla="val 50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05376" y="475488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форматов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013552" y="4754880"/>
            <a:ext cx="1488643" cy="420624"/>
          </a:xfrm>
          <a:prstGeom prst="roundRect">
            <a:avLst>
              <a:gd name="adj" fmla="val 50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13552" y="4754880"/>
            <a:ext cx="14886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18 435 позиций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58227" y="4754880"/>
            <a:ext cx="2498141" cy="420624"/>
          </a:xfrm>
          <a:prstGeom prst="roundRect">
            <a:avLst>
              <a:gd name="adj" fmla="val 50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58227" y="4754880"/>
            <a:ext cx="24981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Происхождение каждой цифры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14400" y="64008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ХАКАТОН · ТРЕК ДАННЫХ ПРАЙСОВ КЛИНИК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17" name="Text 14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Архив прайсов это хаос, а не база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Мы заранее разобрали все 10 файлов архива и заточили систему под реальные ловушки, а не под учебный датасет.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5138928" cy="1755648"/>
          </a:xfrm>
          <a:prstGeom prst="roundRect">
            <a:avLst>
              <a:gd name="adj" fmla="val 7292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862072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136" y="2940528"/>
            <a:ext cx="446593" cy="4465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843784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Пять форматов вразнобой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691640" y="3355848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PDF, скан-PDF, DOCX, XLSX и XLS. Каждый со своими ловушками извлечения.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52744" y="2514600"/>
            <a:ext cx="5138928" cy="1755648"/>
          </a:xfrm>
          <a:prstGeom prst="roundRect">
            <a:avLst>
              <a:gd name="adj" fmla="val 7292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18504" y="2862072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960" y="2940528"/>
            <a:ext cx="446593" cy="4465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41464" y="2843784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Битый встроенный OCR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141464" y="3355848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У Клиник 2 и 3 наивный extract_text даёт мусор «Прейскурант иен». Детектируем и переOCR иваем.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02920" y="4581144"/>
            <a:ext cx="5138928" cy="1755648"/>
          </a:xfrm>
          <a:prstGeom prst="roundRect">
            <a:avLst>
              <a:gd name="adj" fmla="val 7292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8680" y="4928616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136" y="5007072"/>
            <a:ext cx="446593" cy="4465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91640" y="4910328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Разные названия одной услуги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691640" y="5422392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«ОАК» против «Общий анализ крови». Без нормализации цены не сравнить.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952744" y="4581144"/>
            <a:ext cx="5138928" cy="1755648"/>
          </a:xfrm>
          <a:prstGeom prst="roundRect">
            <a:avLst>
              <a:gd name="adj" fmla="val 7292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18504" y="4928616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6960" y="5007072"/>
            <a:ext cx="446593" cy="4465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41464" y="4910328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Нет единой базы и истории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7141464" y="5422392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Нет происхождения цифр, нет версий цен, нет статуса проверки.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27" name="Text 21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АРХИТЕКТУРА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Конвейер доверия к данным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70078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Модульный монолит плюс воркер. Новый формат это новый класс экстрактора, ядро не трогается.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20" y="2645176"/>
            <a:ext cx="378927" cy="37892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0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Router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тип файла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478024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88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044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520" y="2645176"/>
            <a:ext cx="378927" cy="37892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026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Экстракторы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026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Strategy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764024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074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330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20" y="2645176"/>
            <a:ext cx="378927" cy="37892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312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Парсер цен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5312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тарифы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7050024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360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616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3520" y="2645176"/>
            <a:ext cx="378927" cy="378927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598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Валидация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7598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аномалии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336024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9646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9902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645176"/>
            <a:ext cx="378927" cy="378927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884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Нормализация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9884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каскад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502920" y="4041648"/>
            <a:ext cx="3419856" cy="1078992"/>
          </a:xfrm>
          <a:prstGeom prst="roundRect">
            <a:avLst>
              <a:gd name="adj" fmla="val 1101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740664" y="431596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232" y="4382536"/>
            <a:ext cx="378927" cy="378927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417320" y="4261104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38" name="Text 30"/>
          <p:cNvSpPr/>
          <p:nvPr/>
        </p:nvSpPr>
        <p:spPr>
          <a:xfrm>
            <a:off x="1417320" y="462686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pgvector + FTS</a:t>
            </a:r>
            <a:endParaRPr lang="en-US" sz="950" dirty="0"/>
          </a:p>
        </p:txBody>
      </p:sp>
      <p:sp>
        <p:nvSpPr>
          <p:cNvPr id="39" name="Text 31"/>
          <p:cNvSpPr/>
          <p:nvPr/>
        </p:nvSpPr>
        <p:spPr>
          <a:xfrm>
            <a:off x="3904488" y="4041648"/>
            <a:ext cx="310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Shape 32"/>
          <p:cNvSpPr/>
          <p:nvPr/>
        </p:nvSpPr>
        <p:spPr>
          <a:xfrm>
            <a:off x="4197096" y="4041648"/>
            <a:ext cx="3419856" cy="1078992"/>
          </a:xfrm>
          <a:prstGeom prst="roundRect">
            <a:avLst>
              <a:gd name="adj" fmla="val 1101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4434840" y="431596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1408" y="4382536"/>
            <a:ext cx="378927" cy="378927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5111496" y="4261104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FastAPI</a:t>
            </a:r>
            <a:endParaRPr lang="en-US" sz="1500" dirty="0"/>
          </a:p>
        </p:txBody>
      </p:sp>
      <p:sp>
        <p:nvSpPr>
          <p:cNvPr id="44" name="Text 35"/>
          <p:cNvSpPr/>
          <p:nvPr/>
        </p:nvSpPr>
        <p:spPr>
          <a:xfrm>
            <a:off x="5111496" y="462686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эндпоинтов, OpenAPI</a:t>
            </a:r>
            <a:endParaRPr lang="en-US" sz="950" dirty="0"/>
          </a:p>
        </p:txBody>
      </p:sp>
      <p:sp>
        <p:nvSpPr>
          <p:cNvPr id="45" name="Text 36"/>
          <p:cNvSpPr/>
          <p:nvPr/>
        </p:nvSpPr>
        <p:spPr>
          <a:xfrm>
            <a:off x="7598664" y="4041648"/>
            <a:ext cx="310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600" dirty="0"/>
          </a:p>
        </p:txBody>
      </p:sp>
      <p:sp>
        <p:nvSpPr>
          <p:cNvPr id="46" name="Shape 37"/>
          <p:cNvSpPr/>
          <p:nvPr/>
        </p:nvSpPr>
        <p:spPr>
          <a:xfrm>
            <a:off x="7891272" y="4041648"/>
            <a:ext cx="3419856" cy="1078992"/>
          </a:xfrm>
          <a:prstGeom prst="roundRect">
            <a:avLst>
              <a:gd name="adj" fmla="val 1101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8129016" y="431596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5584" y="4382536"/>
            <a:ext cx="378927" cy="378927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8805672" y="4261104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React UI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8805672" y="462686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поиск, очереди, дашборд</a:t>
            </a:r>
            <a:endParaRPr lang="en-US" sz="950" dirty="0"/>
          </a:p>
        </p:txBody>
      </p:sp>
      <p:sp>
        <p:nvSpPr>
          <p:cNvPr id="51" name="Shape 41"/>
          <p:cNvSpPr/>
          <p:nvPr/>
        </p:nvSpPr>
        <p:spPr>
          <a:xfrm>
            <a:off x="502920" y="5358384"/>
            <a:ext cx="5248656" cy="768096"/>
          </a:xfrm>
          <a:prstGeom prst="roundRect">
            <a:avLst>
              <a:gd name="adj" fmla="val 14286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704088" y="55046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53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3524" y="5564124"/>
            <a:ext cx="338328" cy="338328"/>
          </a:xfrm>
          <a:prstGeom prst="rect">
            <a:avLst/>
          </a:prstGeom>
        </p:spPr>
      </p:pic>
      <p:sp>
        <p:nvSpPr>
          <p:cNvPr id="54" name="Text 43"/>
          <p:cNvSpPr/>
          <p:nvPr/>
        </p:nvSpPr>
        <p:spPr>
          <a:xfrm>
            <a:off x="1289304" y="535838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Celery + Redis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асинхронная обработка документов</a:t>
            </a:r>
            <a:endParaRPr lang="en-US" sz="1200" dirty="0"/>
          </a:p>
        </p:txBody>
      </p:sp>
      <p:sp>
        <p:nvSpPr>
          <p:cNvPr id="55" name="Shape 44"/>
          <p:cNvSpPr/>
          <p:nvPr/>
        </p:nvSpPr>
        <p:spPr>
          <a:xfrm>
            <a:off x="6025896" y="5358384"/>
            <a:ext cx="5248656" cy="768096"/>
          </a:xfrm>
          <a:prstGeom prst="roundRect">
            <a:avLst>
              <a:gd name="adj" fmla="val 14286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6227064" y="55046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57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5564124"/>
            <a:ext cx="338328" cy="338328"/>
          </a:xfrm>
          <a:prstGeom prst="rect">
            <a:avLst/>
          </a:prstGeom>
        </p:spPr>
      </p:pic>
      <p:sp>
        <p:nvSpPr>
          <p:cNvPr id="58" name="Text 46"/>
          <p:cNvSpPr/>
          <p:nvPr/>
        </p:nvSpPr>
        <p:spPr>
          <a:xfrm>
            <a:off x="6812280" y="535838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слой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эмбеддинги, реранк, LLM-арбитр с graceful fallback</a:t>
            </a:r>
            <a:endParaRPr lang="en-US" sz="1200" dirty="0"/>
          </a:p>
        </p:txBody>
      </p:sp>
      <p:sp>
        <p:nvSpPr>
          <p:cNvPr id="59" name="Text 47"/>
          <p:cNvSpPr/>
          <p:nvPr/>
        </p:nvSpPr>
        <p:spPr>
          <a:xfrm>
            <a:off x="502920" y="62544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FastAPI · PostgreSQL 16 (pgvector + FTS) · Celery + Redis · React + Vite + TypeScript · Docker</a:t>
            </a:r>
            <a:endParaRPr lang="en-US" sz="1000" dirty="0"/>
          </a:p>
        </p:txBody>
      </p:sp>
      <p:sp>
        <p:nvSpPr>
          <p:cNvPr id="60" name="Text 48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61" name="Shape 49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62" name="Text 50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63" name="Text 51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ИЗВЛЕЧЕНИЕ · КРИТЕРИЙ 30%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 форматов, реальный архив,</a:t>
            </a:r>
            <a:endParaRPr lang="en-US" sz="3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ловушки вскрыты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4114800" cy="3657600"/>
          </a:xfrm>
          <a:prstGeom prst="roundRect">
            <a:avLst>
              <a:gd name="adj" fmla="val 4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6974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18 435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95528" y="3657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позиций извлечено из архива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4297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77240" y="4773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файлов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84248" y="4297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984248" y="4773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клиник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91256" y="4297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191256" y="4773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форматов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2 864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позиций из .xls Клиники 7 через LibreOffice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983480" y="2331720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48072" y="243687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753" y="2491557"/>
            <a:ext cx="311262" cy="31126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715000" y="2331720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ПереOCR битых сканов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Tesseract с русским языком для Клиник 2 и 3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983480" y="3031236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48072" y="3136392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2753" y="3191073"/>
            <a:ext cx="311262" cy="31126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715000" y="3031236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Таблицы без линий разметки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кластеризация слов по координате X в колонки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4983480" y="3730752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148072" y="383590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753" y="3890589"/>
            <a:ext cx="311262" cy="31126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715000" y="3730752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.xls через LibreOffice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headless-конвертация, читаемые русские названия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983480" y="4430268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148072" y="4535424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2753" y="4590105"/>
            <a:ext cx="311262" cy="31126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715000" y="4430268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DOCX с принятием правок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tracked changes применяются до извлечения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4983480" y="5129784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148072" y="523494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2753" y="5289621"/>
            <a:ext cx="311262" cy="311262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715000" y="5129784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Склейка многострочных имён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имя из нескольких строк собирается целиком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4983480" y="5829300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5148072" y="593445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2753" y="5989137"/>
            <a:ext cx="311262" cy="31126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715000" y="5829300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Многоуровневые тарифы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резидент, нерезидент, страховые, первичный и повторный</a:t>
            </a:r>
            <a:endParaRPr lang="en-US" sz="1250" dirty="0"/>
          </a:p>
        </p:txBody>
      </p:sp>
      <p:sp>
        <p:nvSpPr>
          <p:cNvPr id="38" name="Text 30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40" name="Text 32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41" name="Text 33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НОРМАЛИЗАЦИЯ · КРИТЕРИЙ 25%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Каскад нормализации с graceful fallback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6642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Каждый уровень дороже и точнее. Без AI-ключей каскад изящно деградирует до лексики, демо не падает.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" y="241401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26262B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2414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06424" y="22860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Код тарификатора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детерминированно, уверенность 0.98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92608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" y="305409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26262B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06424" y="292608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Точное совпадение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нормализованное имя, уверенность 1.0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56616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" y="369417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262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" y="3694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06424" y="35661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RapidFuzz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опечатки и перестановки слов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20624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9224" y="433425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6D5EF6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06424" y="420624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Эмбеддинги · pgvector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смысл без общих слов, 1231/1231 услуг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484632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" y="497433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6D5EF6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06424" y="48463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Реранк · Cohere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поднимает верного кандидата в топ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548640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9224" y="561441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6D5EF6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" y="5614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06424" y="54864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LLM-арбитр · gpt-4o-mini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пограничная зона, пишет обоснование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55080" y="2286000"/>
            <a:ext cx="5330952" cy="841248"/>
          </a:xfrm>
          <a:prstGeom prst="roundRect">
            <a:avLst>
              <a:gd name="adj" fmla="val 1304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629400" y="2322576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100%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8412480" y="2286000"/>
            <a:ext cx="30906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 адресуемому знаменателю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код тарификатора резолвится в одну услугу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55080" y="3227832"/>
            <a:ext cx="5330952" cy="841248"/>
          </a:xfrm>
          <a:prstGeom prst="roundRect">
            <a:avLst>
              <a:gd name="adj" fmla="val 1304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629400" y="3264408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23.70%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412480" y="3227832"/>
            <a:ext cx="30906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авто по всем активным позициям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честная метрика /stats, Прогон 4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355080" y="4169664"/>
            <a:ext cx="5330952" cy="841248"/>
          </a:xfrm>
          <a:prstGeom prst="roundRect">
            <a:avLst>
              <a:gd name="adj" fmla="val 1304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29400" y="4206240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88.8%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8412480" y="4169664"/>
            <a:ext cx="30906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точность авто-матчей арбитра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+15.98 п.п. от LLM-арбитра в семантической зоне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55080" y="5111496"/>
            <a:ext cx="5330952" cy="841248"/>
          </a:xfrm>
          <a:prstGeom prst="roundRect">
            <a:avLst>
              <a:gd name="adj" fmla="val 1304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29400" y="5148072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$0.20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8412480" y="5111496"/>
            <a:ext cx="30906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стоимость полного прогона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gpt-4o-mini, вердикты кэшируются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355080" y="616305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Синонимы растут на лету из подтверждений оператора. Эмбеддинги кэшируются: 13 426 текстов.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44" name="Text 42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ВАЛИДАЦИЯ · 20%   +   API · 15%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История цены строится сама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2286000"/>
            <a:ext cx="5806440" cy="3703320"/>
          </a:xfrm>
          <a:prstGeom prst="roundRect">
            <a:avLst>
              <a:gd name="adj" fmla="val 3951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50545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Версионирование цен · демо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2816352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Консультативный приём врача д.м.н., Клиника 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429000"/>
            <a:ext cx="2148840" cy="1188720"/>
          </a:xfrm>
          <a:prstGeom prst="roundRect">
            <a:avLst>
              <a:gd name="adj" fmla="val 1076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58444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14 400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22960" y="4114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₸ · 2024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370832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файл DOCX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794760" y="3429000"/>
            <a:ext cx="2148840" cy="1188720"/>
          </a:xfrm>
          <a:prstGeom prst="roundRect">
            <a:avLst>
              <a:gd name="adj" fmla="val 1076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94760" y="358444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16 600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3794760" y="4114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₸ · 2026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94760" y="4370832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файл PDF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71800" y="342900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77240" y="48006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Система сама связала две записи через два формата файлов. Старая цена архивируется, новая ссылается на предыдущую версию. Ничего не удаляется.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37960" y="2286000"/>
            <a:ext cx="5148072" cy="749808"/>
          </a:xfrm>
          <a:prstGeom prst="roundRect">
            <a:avLst>
              <a:gd name="adj" fmla="val 13415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11696" y="2404872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887" y="2469063"/>
            <a:ext cx="365394" cy="36539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360920" y="228600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Все проверки ТЗ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имя, цена, валюта, даты, дубли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37960" y="3145536"/>
            <a:ext cx="5148072" cy="749808"/>
          </a:xfrm>
          <a:prstGeom prst="roundRect">
            <a:avLst>
              <a:gd name="adj" fmla="val 13415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711696" y="3264408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887" y="3328599"/>
            <a:ext cx="365394" cy="365394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360920" y="3145536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Детектор аномалий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скачок цены больше 50% уходит в очередь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537960" y="4005072"/>
            <a:ext cx="5148072" cy="749808"/>
          </a:xfrm>
          <a:prstGeom prst="roundRect">
            <a:avLst>
              <a:gd name="adj" fmla="val 13415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711696" y="4123944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887" y="4188135"/>
            <a:ext cx="365394" cy="365394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7360920" y="4005072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Бессрочное версионирование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is_active + supersedes, полный аудит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6537960" y="4937760"/>
            <a:ext cx="5148072" cy="1051560"/>
          </a:xfrm>
          <a:prstGeom prst="roundRect">
            <a:avLst>
              <a:gd name="adj" fmla="val 10435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711696" y="5138928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887" y="5203119"/>
            <a:ext cx="365394" cy="36539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360920" y="49377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 эндпоинтов · OpenAPI / Swagger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Русский полнотекстовый поиск Postgres, цель ответа ниже 200 мс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34" name="Shape 28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35" name="Text 29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36" name="Text 30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UX ОПЕРАТОРА · КРИТЕРИЙ 10%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Денежный экран: очередь без мыши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12064" y="2185416"/>
            <a:ext cx="6693408" cy="335584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tmp/medp-deck/shots/verifica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2240280"/>
            <a:ext cx="658368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12064" y="5550408"/>
            <a:ext cx="6693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Очередь верификации · 3 колонки · горячие клавиши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443216" y="2185416"/>
            <a:ext cx="4270248" cy="1591056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tmp/medp-deck/shots/dashboar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98080" y="2240280"/>
            <a:ext cx="4160520" cy="14813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43216" y="3785616"/>
            <a:ext cx="4270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Дашборд качества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7443216" y="4105656"/>
            <a:ext cx="2084832" cy="1435608"/>
          </a:xfrm>
          <a:prstGeom prst="roundRect">
            <a:avLst>
              <a:gd name="adj" fmla="val 6369"/>
            </a:avLst>
          </a:prstGeom>
          <a:solidFill>
            <a:srgbClr val="FFFFFF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Image 2" descr="/tmp/medp-deck/shots/search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98080" y="4160520"/>
            <a:ext cx="1975104" cy="13258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443216" y="555040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Поиск · русский FTS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9637776" y="4105656"/>
            <a:ext cx="2075688" cy="1435608"/>
          </a:xfrm>
          <a:prstGeom prst="roundRect">
            <a:avLst>
              <a:gd name="adj" fmla="val 6369"/>
            </a:avLst>
          </a:prstGeom>
          <a:solidFill>
            <a:srgbClr val="FFFFFF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pic>
        <p:nvPicPr>
          <p:cNvPr id="14" name="Image 3" descr="/tmp/medp-deck/shots/landing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4160520"/>
            <a:ext cx="1965960" cy="13258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37776" y="5550408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Публичный лендинг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18" name="Text 12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ИТОГ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Конвейер доверия, а не парсер прайсов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225856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22376" y="275234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форматов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56432" y="214884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0" y="225856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18 435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3675888" y="275234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позиций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9944" y="214884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11112" y="225856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 / 8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629400" y="275234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файлов / клиник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363456" y="214884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564624" y="225856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1231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582912" y="275234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услуга в справочнике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33756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4088" y="344728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722376" y="394106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авто по коду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56432" y="333756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0" y="344728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88.8%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3675888" y="394106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точность арбитра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9944" y="333756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611112" y="344728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29400" y="394106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эндпоинтов API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363456" y="333756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564624" y="344728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192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582912" y="394106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теста зелёные</a:t>
            </a:r>
            <a:endParaRPr lang="en-US" sz="10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47488"/>
            <a:ext cx="237744" cy="23774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896112" y="49926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Происхождение каждой цифры: файл, страница, строка, уверенность, история.</a:t>
            </a:r>
            <a:endParaRPr lang="en-US" sz="13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49824"/>
            <a:ext cx="237744" cy="23774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896112" y="53949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Гибридный AI-каскад с graceful fallback, а не один парсер.</a:t>
            </a:r>
            <a:endParaRPr lang="en-US" sz="135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852160"/>
            <a:ext cx="237744" cy="237744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896112" y="579729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Живой отчёт о качестве вместо статичной таблицы.</a:t>
            </a:r>
            <a:endParaRPr lang="en-US" sz="1350" dirty="0"/>
          </a:p>
        </p:txBody>
      </p:sp>
      <p:sp>
        <p:nvSpPr>
          <p:cNvPr id="34" name="Text 29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36" name="Text 31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37" name="Text 32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MedPartners</dc:title>
  <dc:subject>PptxGenJS Presentation</dc:subject>
  <dc:creator>Команда 113</dc:creator>
  <cp:lastModifiedBy>Команда 113</cp:lastModifiedBy>
  <cp:revision>1</cp:revision>
  <dcterms:created xsi:type="dcterms:W3CDTF">2026-06-28T12:10:04Z</dcterms:created>
  <dcterms:modified xsi:type="dcterms:W3CDTF">2026-06-28T12:10:04Z</dcterms:modified>
</cp:coreProperties>
</file>