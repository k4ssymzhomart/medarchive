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20624"/>
            <a:ext cx="457200" cy="4572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50292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115568"/>
            <a:ext cx="11247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MedPartners</a:t>
            </a:r>
            <a:endParaRPr lang="en-US" sz="8200" dirty="0"/>
          </a:p>
        </p:txBody>
      </p:sp>
      <p:sp>
        <p:nvSpPr>
          <p:cNvPr id="6" name="Text 3"/>
          <p:cNvSpPr/>
          <p:nvPr/>
        </p:nvSpPr>
        <p:spPr>
          <a:xfrm>
            <a:off x="502920" y="297180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Единая база услуг и цен клиник партнёров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02920" y="3611880"/>
            <a:ext cx="5303520" cy="10973"/>
          </a:xfrm>
          <a:prstGeom prst="rect">
            <a:avLst/>
          </a:prstGeom>
          <a:solidFill>
            <a:srgbClr val="CFCFD3"/>
          </a:solidFill>
          <a:ln w="12700">
            <a:solidFill>
              <a:srgbClr val="CFCFD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3822192"/>
            <a:ext cx="2327148" cy="32004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3822192"/>
            <a:ext cx="2327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Конвейер доверия к данным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994660" y="3822192"/>
            <a:ext cx="1106424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94660" y="3822192"/>
            <a:ext cx="110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 форматов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265676" y="3822192"/>
            <a:ext cx="143195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65676" y="3822192"/>
            <a:ext cx="14319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18 435 позиций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862218" y="3822192"/>
            <a:ext cx="240853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62218" y="3822192"/>
            <a:ext cx="24085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Происхождение каждой цифры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02920" y="43708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50" kern="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ХАКАТОН · ТРЕК ДАННЫХ ПРАЙСОВ КЛИНИК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02920" y="6492240"/>
            <a:ext cx="11183112" cy="10973"/>
          </a:xfrm>
          <a:prstGeom prst="rect">
            <a:avLst/>
          </a:prstGeom>
          <a:solidFill>
            <a:srgbClr val="E4E4E7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65379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MedPartners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503920" y="65379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КОМАНДА 113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109960" y="65379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ПРОБЛЕМА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330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Архив прайсов это хаос, а не база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682496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Все 10 файлов архива разобраны заранее. Система заточена под реальные ловушки, а не учебный датасет.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322576"/>
            <a:ext cx="5230368" cy="1719072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2596896"/>
            <a:ext cx="420624" cy="420624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003" y="2647371"/>
            <a:ext cx="319674" cy="3196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57860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Пять форматов вразнобой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371600" y="3017520"/>
            <a:ext cx="4224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PDF, скан-PDF, DOCX, XLSX и XLS. Каждый со своими ловушками извлечения.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053328" y="2322576"/>
            <a:ext cx="5230368" cy="1719072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45936" y="2596896"/>
            <a:ext cx="420624" cy="420624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411" y="2647371"/>
            <a:ext cx="319674" cy="31967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22008" y="257860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Битый встроенный OCR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922008" y="3017520"/>
            <a:ext cx="4224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У Клиник 2 и 3 наивный extract_text даёт мусор. Детектируем и переOCR-им.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02920" y="4297680"/>
            <a:ext cx="5230368" cy="1719072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95528" y="4572000"/>
            <a:ext cx="420624" cy="420624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003" y="4622475"/>
            <a:ext cx="319674" cy="31967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455371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Разные названия одной услуги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371600" y="4992624"/>
            <a:ext cx="4224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«ОАК» против «Общий анализ крови». Без нормализации цены не сравнить.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053328" y="4297680"/>
            <a:ext cx="5230368" cy="1719072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345936" y="4572000"/>
            <a:ext cx="420624" cy="420624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6411" y="4622475"/>
            <a:ext cx="319674" cy="31967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22008" y="455371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Нет единой базы и истории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6922008" y="4992624"/>
            <a:ext cx="4224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Нет происхождения цифр, версий цен, статуса проверки.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02920" y="6492240"/>
            <a:ext cx="11183112" cy="10973"/>
          </a:xfrm>
          <a:prstGeom prst="rect">
            <a:avLst/>
          </a:prstGeom>
          <a:solidFill>
            <a:srgbClr val="E4E4E7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02920" y="65379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MedPartners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8503920" y="65379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КОМАНДА 113</a:t>
            </a:r>
            <a:endParaRPr lang="en-US" sz="850" dirty="0"/>
          </a:p>
        </p:txBody>
      </p:sp>
      <p:sp>
        <p:nvSpPr>
          <p:cNvPr id="28" name="Text 22"/>
          <p:cNvSpPr/>
          <p:nvPr/>
        </p:nvSpPr>
        <p:spPr>
          <a:xfrm>
            <a:off x="11109960" y="65379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АРХИТЕКТУРА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320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Конвейер доверия к данным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627632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Модульный монолит плюс воркер. Новый формат — новый класс экстрактора, ядро не трогается.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139696"/>
            <a:ext cx="2011680" cy="1280160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2340864"/>
            <a:ext cx="420624" cy="420624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851" y="2391339"/>
            <a:ext cx="319674" cy="3196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" y="28712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Router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04088" y="314553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тип файла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505456" y="2139696"/>
            <a:ext cx="2926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2788920" y="2139696"/>
            <a:ext cx="2011680" cy="1280160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008376" y="2340864"/>
            <a:ext cx="420624" cy="420624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8851" y="2391339"/>
            <a:ext cx="319674" cy="31967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90088" y="28712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Экстракторы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990088" y="314553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Strategy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791456" y="2139696"/>
            <a:ext cx="2926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5074920" y="2139696"/>
            <a:ext cx="2011680" cy="1280160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294376" y="2340864"/>
            <a:ext cx="420624" cy="420624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4851" y="2391339"/>
            <a:ext cx="319674" cy="31967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76088" y="28712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Парсер цен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276088" y="314553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тарифы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7077456" y="2139696"/>
            <a:ext cx="2926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7360920" y="2139696"/>
            <a:ext cx="2011680" cy="1280160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580376" y="2340864"/>
            <a:ext cx="420624" cy="420624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0851" y="2391339"/>
            <a:ext cx="319674" cy="31967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562088" y="28712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Валидация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7562088" y="314553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аномалии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9363456" y="2139696"/>
            <a:ext cx="2926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9646920" y="2139696"/>
            <a:ext cx="2011680" cy="1280160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9866376" y="2340864"/>
            <a:ext cx="420624" cy="420624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6851" y="2391339"/>
            <a:ext cx="319674" cy="31967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848088" y="28712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Нормализация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9848088" y="314553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каскад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502920" y="3730752"/>
            <a:ext cx="3456432" cy="987552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85800" y="3950208"/>
            <a:ext cx="420624" cy="420624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275" y="4000683"/>
            <a:ext cx="319674" cy="31967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271016" y="3913632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38" name="Text 30"/>
          <p:cNvSpPr/>
          <p:nvPr/>
        </p:nvSpPr>
        <p:spPr>
          <a:xfrm>
            <a:off x="1271016" y="4242816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pgvector + FTS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3950208" y="3730752"/>
            <a:ext cx="2743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Shape 32"/>
          <p:cNvSpPr/>
          <p:nvPr/>
        </p:nvSpPr>
        <p:spPr>
          <a:xfrm>
            <a:off x="4215384" y="3730752"/>
            <a:ext cx="3456432" cy="987552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4398264" y="3950208"/>
            <a:ext cx="420624" cy="420624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8739" y="4000683"/>
            <a:ext cx="319674" cy="319674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4983480" y="3913632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FastAPI</a:t>
            </a:r>
            <a:endParaRPr lang="en-US" sz="1350" dirty="0"/>
          </a:p>
        </p:txBody>
      </p:sp>
      <p:sp>
        <p:nvSpPr>
          <p:cNvPr id="44" name="Text 35"/>
          <p:cNvSpPr/>
          <p:nvPr/>
        </p:nvSpPr>
        <p:spPr>
          <a:xfrm>
            <a:off x="4983480" y="4242816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эндпоинтов, OpenAPI</a:t>
            </a:r>
            <a:endParaRPr lang="en-US" sz="900" dirty="0"/>
          </a:p>
        </p:txBody>
      </p:sp>
      <p:sp>
        <p:nvSpPr>
          <p:cNvPr id="45" name="Text 36"/>
          <p:cNvSpPr/>
          <p:nvPr/>
        </p:nvSpPr>
        <p:spPr>
          <a:xfrm>
            <a:off x="7662672" y="3730752"/>
            <a:ext cx="2743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</a:t>
            </a:r>
            <a:endParaRPr lang="en-US" sz="1400" dirty="0"/>
          </a:p>
        </p:txBody>
      </p:sp>
      <p:sp>
        <p:nvSpPr>
          <p:cNvPr id="46" name="Shape 37"/>
          <p:cNvSpPr/>
          <p:nvPr/>
        </p:nvSpPr>
        <p:spPr>
          <a:xfrm>
            <a:off x="7927848" y="3730752"/>
            <a:ext cx="3456432" cy="987552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8110728" y="3950208"/>
            <a:ext cx="420624" cy="420624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1203" y="4000683"/>
            <a:ext cx="319674" cy="319674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8695944" y="3913632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React UI</a:t>
            </a:r>
            <a:endParaRPr lang="en-US" sz="1350" dirty="0"/>
          </a:p>
        </p:txBody>
      </p:sp>
      <p:sp>
        <p:nvSpPr>
          <p:cNvPr id="50" name="Text 40"/>
          <p:cNvSpPr/>
          <p:nvPr/>
        </p:nvSpPr>
        <p:spPr>
          <a:xfrm>
            <a:off x="8695944" y="4242816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поиск, очереди, дашборд</a:t>
            </a:r>
            <a:endParaRPr lang="en-US" sz="900" dirty="0"/>
          </a:p>
        </p:txBody>
      </p:sp>
      <p:sp>
        <p:nvSpPr>
          <p:cNvPr id="51" name="Shape 41"/>
          <p:cNvSpPr/>
          <p:nvPr/>
        </p:nvSpPr>
        <p:spPr>
          <a:xfrm>
            <a:off x="502920" y="4992624"/>
            <a:ext cx="5303520" cy="676656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52" name="Shape 42"/>
          <p:cNvSpPr/>
          <p:nvPr/>
        </p:nvSpPr>
        <p:spPr>
          <a:xfrm>
            <a:off x="649224" y="5120640"/>
            <a:ext cx="402336" cy="402336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7504" y="5168920"/>
            <a:ext cx="305775" cy="305775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1179576" y="4992624"/>
            <a:ext cx="4526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Celery + Redis  </a:t>
            </a:r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асинхронная обработка документов</a:t>
            </a:r>
            <a:endParaRPr lang="en-US" sz="1150" dirty="0"/>
          </a:p>
        </p:txBody>
      </p:sp>
      <p:sp>
        <p:nvSpPr>
          <p:cNvPr id="55" name="Shape 44"/>
          <p:cNvSpPr/>
          <p:nvPr/>
        </p:nvSpPr>
        <p:spPr>
          <a:xfrm>
            <a:off x="6080760" y="4992624"/>
            <a:ext cx="5303520" cy="676656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56" name="Shape 45"/>
          <p:cNvSpPr/>
          <p:nvPr/>
        </p:nvSpPr>
        <p:spPr>
          <a:xfrm>
            <a:off x="6227064" y="5120640"/>
            <a:ext cx="402336" cy="402336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pic>
        <p:nvPicPr>
          <p:cNvPr id="5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5344" y="5168920"/>
            <a:ext cx="305775" cy="305775"/>
          </a:xfrm>
          <a:prstGeom prst="rect">
            <a:avLst/>
          </a:prstGeom>
        </p:spPr>
      </p:pic>
      <p:sp>
        <p:nvSpPr>
          <p:cNvPr id="58" name="Text 46"/>
          <p:cNvSpPr/>
          <p:nvPr/>
        </p:nvSpPr>
        <p:spPr>
          <a:xfrm>
            <a:off x="6757416" y="4992624"/>
            <a:ext cx="4526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 слой  </a:t>
            </a:r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эмбеддинги, реранк, LLM-арбитр с graceful fallback</a:t>
            </a:r>
            <a:endParaRPr lang="en-US" sz="1150" dirty="0"/>
          </a:p>
        </p:txBody>
      </p:sp>
      <p:sp>
        <p:nvSpPr>
          <p:cNvPr id="59" name="Text 47"/>
          <p:cNvSpPr/>
          <p:nvPr/>
        </p:nvSpPr>
        <p:spPr>
          <a:xfrm>
            <a:off x="502920" y="596188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FastAPI · PostgreSQL 16 (pgvector + FTS) · Celery + Redis · React + Vite + TypeScript · Docker</a:t>
            </a:r>
            <a:endParaRPr lang="en-US" sz="950" dirty="0"/>
          </a:p>
        </p:txBody>
      </p:sp>
      <p:sp>
        <p:nvSpPr>
          <p:cNvPr id="60" name="Shape 48"/>
          <p:cNvSpPr/>
          <p:nvPr/>
        </p:nvSpPr>
        <p:spPr>
          <a:xfrm>
            <a:off x="502920" y="6492240"/>
            <a:ext cx="11183112" cy="10973"/>
          </a:xfrm>
          <a:prstGeom prst="rect">
            <a:avLst/>
          </a:prstGeom>
          <a:solidFill>
            <a:srgbClr val="E4E4E7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61" name="Text 49"/>
          <p:cNvSpPr/>
          <p:nvPr/>
        </p:nvSpPr>
        <p:spPr>
          <a:xfrm>
            <a:off x="502920" y="65379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MedPartners</a:t>
            </a:r>
            <a:endParaRPr lang="en-US" sz="850" dirty="0"/>
          </a:p>
        </p:txBody>
      </p:sp>
      <p:sp>
        <p:nvSpPr>
          <p:cNvPr id="62" name="Text 50"/>
          <p:cNvSpPr/>
          <p:nvPr/>
        </p:nvSpPr>
        <p:spPr>
          <a:xfrm>
            <a:off x="8503920" y="65379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КОМАНДА 113</a:t>
            </a:r>
            <a:endParaRPr lang="en-US" sz="850" dirty="0"/>
          </a:p>
        </p:txBody>
      </p:sp>
      <p:sp>
        <p:nvSpPr>
          <p:cNvPr id="63" name="Text 51"/>
          <p:cNvSpPr/>
          <p:nvPr/>
        </p:nvSpPr>
        <p:spPr>
          <a:xfrm>
            <a:off x="11109960" y="65379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ИЗВЛЕЧЕНИЕ · КРИТЕРИЙ 30%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5760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280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 форматов, реальный архив,</a:t>
            </a:r>
            <a:endParaRPr lang="en-US" sz="2800" dirty="0"/>
          </a:p>
          <a:p>
            <a:pPr algn="l" indent="0" marL="0">
              <a:lnSpc>
                <a:spcPct val="101000"/>
              </a:lnSpc>
              <a:buNone/>
            </a:pPr>
            <a:r>
              <a:rPr lang="en-US" sz="280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ловушки вскрыты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2249424"/>
            <a:ext cx="4133088" cy="3675888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2560320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18 435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68096" y="341985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позиций извлечено из архива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68096" y="3858768"/>
            <a:ext cx="3291840" cy="10973"/>
          </a:xfrm>
          <a:prstGeom prst="rect">
            <a:avLst/>
          </a:prstGeom>
          <a:solidFill>
            <a:srgbClr val="CFCFD3"/>
          </a:solidFill>
          <a:ln w="12700">
            <a:solidFill>
              <a:srgbClr val="CFCF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4023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68096" y="44622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файлов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11680" y="4023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011680" y="44622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клиник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55264" y="4023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55264" y="44622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форматов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68096" y="517550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2 864</a:t>
            </a:r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позиций из .xls через LibreOffice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74336" y="2249424"/>
            <a:ext cx="6711696" cy="576072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02352" y="2331720"/>
            <a:ext cx="384048" cy="384048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8438" y="2377806"/>
            <a:ext cx="291876" cy="29187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596128" y="2249424"/>
            <a:ext cx="59070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ПереOCR битых сканов   </a:t>
            </a:r>
            <a:pPr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Tesseract с русским языком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974336" y="2889504"/>
            <a:ext cx="6711696" cy="576072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102352" y="2971800"/>
            <a:ext cx="384048" cy="384048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438" y="3017886"/>
            <a:ext cx="291876" cy="2918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596128" y="2889504"/>
            <a:ext cx="59070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Таблицы без линий разметки   </a:t>
            </a:r>
            <a:pPr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кластеризация слов по X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974336" y="3529584"/>
            <a:ext cx="6711696" cy="576072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102352" y="3611880"/>
            <a:ext cx="384048" cy="384048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438" y="3657966"/>
            <a:ext cx="291876" cy="29187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596128" y="3529584"/>
            <a:ext cx="59070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.xls через LibreOffice   </a:t>
            </a:r>
            <a:pPr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headless-конвертация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4974336" y="4169664"/>
            <a:ext cx="6711696" cy="576072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102352" y="4251960"/>
            <a:ext cx="384048" cy="384048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438" y="4298046"/>
            <a:ext cx="291876" cy="29187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596128" y="4169664"/>
            <a:ext cx="59070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DOCX с принятием правок   </a:t>
            </a:r>
            <a:pPr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tracked changes до извлечения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4974336" y="4809744"/>
            <a:ext cx="6711696" cy="576072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5102352" y="4892040"/>
            <a:ext cx="384048" cy="384048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8438" y="4938126"/>
            <a:ext cx="291876" cy="29187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596128" y="4809744"/>
            <a:ext cx="59070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Склейка многострочных имён   </a:t>
            </a:r>
            <a:pPr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имя из нескольких строк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4974336" y="5449824"/>
            <a:ext cx="6711696" cy="576072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5102352" y="5532120"/>
            <a:ext cx="384048" cy="384048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8438" y="5578206"/>
            <a:ext cx="291876" cy="29187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596128" y="5449824"/>
            <a:ext cx="59070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Многоуровневые тарифы   </a:t>
            </a:r>
            <a:pPr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резидент, страховые, первичный</a:t>
            </a:r>
            <a:endParaRPr lang="en-US" sz="1200" dirty="0"/>
          </a:p>
        </p:txBody>
      </p:sp>
      <p:sp>
        <p:nvSpPr>
          <p:cNvPr id="39" name="Shape 31"/>
          <p:cNvSpPr/>
          <p:nvPr/>
        </p:nvSpPr>
        <p:spPr>
          <a:xfrm>
            <a:off x="502920" y="6492240"/>
            <a:ext cx="11183112" cy="10973"/>
          </a:xfrm>
          <a:prstGeom prst="rect">
            <a:avLst/>
          </a:prstGeom>
          <a:solidFill>
            <a:srgbClr val="E4E4E7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502920" y="65379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MedPartners</a:t>
            </a:r>
            <a:endParaRPr lang="en-US" sz="850" dirty="0"/>
          </a:p>
        </p:txBody>
      </p:sp>
      <p:sp>
        <p:nvSpPr>
          <p:cNvPr id="41" name="Text 33"/>
          <p:cNvSpPr/>
          <p:nvPr/>
        </p:nvSpPr>
        <p:spPr>
          <a:xfrm>
            <a:off x="8503920" y="65379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КОМАНДА 113</a:t>
            </a:r>
            <a:endParaRPr lang="en-US" sz="850" dirty="0"/>
          </a:p>
        </p:txBody>
      </p:sp>
      <p:sp>
        <p:nvSpPr>
          <p:cNvPr id="42" name="Text 34"/>
          <p:cNvSpPr/>
          <p:nvPr/>
        </p:nvSpPr>
        <p:spPr>
          <a:xfrm>
            <a:off x="11109960" y="65379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НОРМАЛИЗАЦИЯ · КРИТЕРИЙ 25%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320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Каскад с graceful fallback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627632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Каждый уровень дороже и точнее. Без AI-ключей каскад деградирует до лексики — демо не падает.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231136"/>
            <a:ext cx="5486400" cy="54864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" y="2359152"/>
            <a:ext cx="274320" cy="274320"/>
          </a:xfrm>
          <a:prstGeom prst="rect">
            <a:avLst/>
          </a:prstGeom>
          <a:solidFill>
            <a:srgbClr val="F4F4F5"/>
          </a:solidFill>
          <a:ln w="12700">
            <a:solidFill>
              <a:srgbClr val="CFCF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33272" y="2231136"/>
            <a:ext cx="4791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Код тарификатора   </a:t>
            </a:r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детерминированно, уверенность 0.98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848356"/>
            <a:ext cx="5486400" cy="54864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" y="2976372"/>
            <a:ext cx="274320" cy="274320"/>
          </a:xfrm>
          <a:prstGeom prst="rect">
            <a:avLst/>
          </a:prstGeom>
          <a:solidFill>
            <a:srgbClr val="F4F4F5"/>
          </a:solidFill>
          <a:ln w="12700">
            <a:solidFill>
              <a:srgbClr val="CFCF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" y="29763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33272" y="2848356"/>
            <a:ext cx="4791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Точное совпадение   </a:t>
            </a:r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нормализованное имя, уверенность 1.0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465576"/>
            <a:ext cx="5486400" cy="54864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" y="3593592"/>
            <a:ext cx="274320" cy="274320"/>
          </a:xfrm>
          <a:prstGeom prst="rect">
            <a:avLst/>
          </a:prstGeom>
          <a:solidFill>
            <a:srgbClr val="F4F4F5"/>
          </a:solidFill>
          <a:ln w="12700">
            <a:solidFill>
              <a:srgbClr val="CFCF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3593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33272" y="3465576"/>
            <a:ext cx="4791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RapidFuzz   </a:t>
            </a:r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опечатки и перестановки слов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082796"/>
            <a:ext cx="5486400" cy="548640"/>
          </a:xfrm>
          <a:prstGeom prst="rect">
            <a:avLst/>
          </a:prstGeom>
          <a:solidFill>
            <a:srgbClr val="F4F4F5"/>
          </a:solidFill>
          <a:ln w="12700">
            <a:solidFill>
              <a:srgbClr val="CFCF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" y="4210812"/>
            <a:ext cx="274320" cy="27432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" y="42108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33272" y="4082796"/>
            <a:ext cx="4791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Эмбеддинги · pgvector   </a:t>
            </a:r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смысл без общих слов, 1231/1231 услуг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4700016"/>
            <a:ext cx="5486400" cy="548640"/>
          </a:xfrm>
          <a:prstGeom prst="rect">
            <a:avLst/>
          </a:prstGeom>
          <a:solidFill>
            <a:srgbClr val="F4F4F5"/>
          </a:solidFill>
          <a:ln w="12700">
            <a:solidFill>
              <a:srgbClr val="CFCF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" y="4828032"/>
            <a:ext cx="274320" cy="27432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33272" y="4700016"/>
            <a:ext cx="4791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Реранк · Cohere   </a:t>
            </a:r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поднимает верного кандидата в топ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5317236"/>
            <a:ext cx="5486400" cy="548640"/>
          </a:xfrm>
          <a:prstGeom prst="rect">
            <a:avLst/>
          </a:prstGeom>
          <a:solidFill>
            <a:srgbClr val="F4F4F5"/>
          </a:solidFill>
          <a:ln w="12700">
            <a:solidFill>
              <a:srgbClr val="CFCFD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" y="5445252"/>
            <a:ext cx="274320" cy="27432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" y="54452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33272" y="5317236"/>
            <a:ext cx="4791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LLM-арбитр · gpt-4o-mini   </a:t>
            </a:r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пограничная зона, пишет обоснование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55080" y="2231136"/>
            <a:ext cx="5330952" cy="822960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92824" y="226771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27.59%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8439912" y="2231136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авто по всем активным позициям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полный арбитр 0.40-0.85, /stats показывает вживую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55080" y="3145536"/>
            <a:ext cx="5330952" cy="822960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92824" y="318211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38.04%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8439912" y="3145536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по адресуемому знаменателю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позиции у которых пара есть в справочнике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55080" y="4059936"/>
            <a:ext cx="5330952" cy="82296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92824" y="409651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96.6%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8439912" y="4059936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точность авто-матчей арбитра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сверка с код-истиной, выше целевых 85%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55080" y="4974336"/>
            <a:ext cx="5330952" cy="82296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92824" y="501091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$0.16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8439912" y="4974336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стоимость прогона арбитра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gpt-4o-mini, вердикты кэшируются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55080" y="6108192"/>
            <a:ext cx="5330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Синонимы растут на лету из подтверждений оператора. Эмбеддинги кэшируются: 13 426 текстов.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02920" y="6492240"/>
            <a:ext cx="11183112" cy="10973"/>
          </a:xfrm>
          <a:prstGeom prst="rect">
            <a:avLst/>
          </a:prstGeom>
          <a:solidFill>
            <a:srgbClr val="E4E4E7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65379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MedPartners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503920" y="65379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КОМАНДА 113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1109960" y="65379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ВАЛИДАЦИЯ · 20%   +   API · 15%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320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История цены строится сама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194560"/>
            <a:ext cx="5806440" cy="3730752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237744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Версионирование цен · демо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68096" y="2651760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Консультативный приём врача д.м.н., Клиника 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" y="3236976"/>
            <a:ext cx="2139696" cy="1133856"/>
          </a:xfrm>
          <a:prstGeom prst="rect">
            <a:avLst/>
          </a:prstGeom>
          <a:solidFill>
            <a:srgbClr val="FAFAFA"/>
          </a:solidFill>
          <a:ln w="12700">
            <a:solidFill>
              <a:srgbClr val="CFCF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3383280"/>
            <a:ext cx="2139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14 400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04672" y="3877056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₸ · 2024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" y="4114800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файл DOCX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767328" y="3236976"/>
            <a:ext cx="2139696" cy="1133856"/>
          </a:xfrm>
          <a:prstGeom prst="rect">
            <a:avLst/>
          </a:prstGeom>
          <a:solidFill>
            <a:srgbClr val="FAFAFA"/>
          </a:solidFill>
          <a:ln w="12700">
            <a:solidFill>
              <a:srgbClr val="CFCF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67328" y="3383280"/>
            <a:ext cx="2139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16 600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3767328" y="3877056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₸ · 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67328" y="4114800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файл PDF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944368" y="3236976"/>
            <a:ext cx="8229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68096" y="4626864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Система сама связала две записи через два формата файлов. Старая цена архивируется, новая ссылается на предыдущую версию.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28816" y="2194560"/>
            <a:ext cx="5157216" cy="713232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0" y="2322576"/>
            <a:ext cx="402336" cy="402336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3400" y="2370856"/>
            <a:ext cx="305775" cy="305775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223760" y="2194560"/>
            <a:ext cx="4315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Все проверки ТЗ   </a:t>
            </a:r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имя, цена, валюта, даты, дубли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528816" y="3017520"/>
            <a:ext cx="5157216" cy="713232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675120" y="3145536"/>
            <a:ext cx="402336" cy="402336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400" y="3193816"/>
            <a:ext cx="305775" cy="305775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223760" y="3017520"/>
            <a:ext cx="4315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Детектор аномалий   </a:t>
            </a:r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скачок цены больше 50% уходит в очередь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6528816" y="3840480"/>
            <a:ext cx="5157216" cy="713232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675120" y="3968496"/>
            <a:ext cx="402336" cy="402336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3400" y="4016776"/>
            <a:ext cx="305775" cy="305775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223760" y="3840480"/>
            <a:ext cx="4315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Бессрочное версионирование   </a:t>
            </a:r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is_active + supersedes, полный аудит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6528816" y="4718304"/>
            <a:ext cx="5157216" cy="1207008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675120" y="5010912"/>
            <a:ext cx="402336" cy="402336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3400" y="5059192"/>
            <a:ext cx="305775" cy="305775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223760" y="4718304"/>
            <a:ext cx="431596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14 эндпоинтов · OpenAPI / Swagger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1717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Русский полнотекстовый поиск Postgres, цель ответа ниже 200 мс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502920" y="6492240"/>
            <a:ext cx="11183112" cy="10973"/>
          </a:xfrm>
          <a:prstGeom prst="rect">
            <a:avLst/>
          </a:prstGeom>
          <a:solidFill>
            <a:srgbClr val="E4E4E7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502920" y="65379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MedPartners</a:t>
            </a:r>
            <a:endParaRPr lang="en-US" sz="850" dirty="0"/>
          </a:p>
        </p:txBody>
      </p:sp>
      <p:sp>
        <p:nvSpPr>
          <p:cNvPr id="35" name="Text 29"/>
          <p:cNvSpPr/>
          <p:nvPr/>
        </p:nvSpPr>
        <p:spPr>
          <a:xfrm>
            <a:off x="8503920" y="65379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КОМАНДА 113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11109960" y="65379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UX ОПЕРАТОРА · КРИТЕРИЙ 10%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300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Денежный экран: очередь без мыши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2103120"/>
            <a:ext cx="6656832" cy="3255264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pic>
        <p:nvPicPr>
          <p:cNvPr id="5" name="Image 0" descr="/tmp/medp-deck/shots/verific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2139696"/>
            <a:ext cx="6583680" cy="31821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5376672"/>
            <a:ext cx="6656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Очередь верификации · 3 колонки · горячие клавиши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461504" y="2103120"/>
            <a:ext cx="4233672" cy="1499616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pic>
        <p:nvPicPr>
          <p:cNvPr id="8" name="Image 1" descr="/tmp/medp-deck/shots/dashboar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98080" y="2139696"/>
            <a:ext cx="4160520" cy="14264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61504" y="3621024"/>
            <a:ext cx="4233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Дашборд качества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7461504" y="4023360"/>
            <a:ext cx="2066544" cy="1335024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pic>
        <p:nvPicPr>
          <p:cNvPr id="11" name="Image 2" descr="/tmp/medp-deck/shots/search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98080" y="4059936"/>
            <a:ext cx="1993392" cy="12618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61504" y="5376672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Поиск · русский FTS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9656064" y="4023360"/>
            <a:ext cx="2039112" cy="1335024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pic>
        <p:nvPicPr>
          <p:cNvPr id="14" name="Image 3" descr="/tmp/medp-deck/shots/landing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692640" y="4059936"/>
            <a:ext cx="1965960" cy="12618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56064" y="5376672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Публичный лендинг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502920" y="6492240"/>
            <a:ext cx="11183112" cy="10973"/>
          </a:xfrm>
          <a:prstGeom prst="rect">
            <a:avLst/>
          </a:prstGeom>
          <a:solidFill>
            <a:srgbClr val="E4E4E7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502920" y="65379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MedPartners</a:t>
            </a:r>
            <a:endParaRPr lang="en-US" sz="850" dirty="0"/>
          </a:p>
        </p:txBody>
      </p:sp>
      <p:sp>
        <p:nvSpPr>
          <p:cNvPr id="18" name="Text 12"/>
          <p:cNvSpPr/>
          <p:nvPr/>
        </p:nvSpPr>
        <p:spPr>
          <a:xfrm>
            <a:off x="8503920" y="65379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КОМАНДА 113</a:t>
            </a:r>
            <a:endParaRPr lang="en-US" sz="850" dirty="0"/>
          </a:p>
        </p:txBody>
      </p:sp>
      <p:sp>
        <p:nvSpPr>
          <p:cNvPr id="19" name="Text 13"/>
          <p:cNvSpPr/>
          <p:nvPr/>
        </p:nvSpPr>
        <p:spPr>
          <a:xfrm>
            <a:off x="11109960" y="65379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75488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ИТОГ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320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Конвейер доверия, а не парсер прайсов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2048256"/>
            <a:ext cx="2706624" cy="896112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39696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85800" y="261518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форматов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47288" y="2048256"/>
            <a:ext cx="2706624" cy="896112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0168" y="2139696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18 435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630168" y="261518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позиций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391656" y="2048256"/>
            <a:ext cx="2706624" cy="896112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74536" y="2139696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 / 8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6574536" y="261518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файлов / клиник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336024" y="2048256"/>
            <a:ext cx="2706624" cy="896112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18904" y="2139696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1231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9518904" y="261518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услуга в справочнике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3127248"/>
            <a:ext cx="2706624" cy="896112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21868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27.59%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685800" y="369417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авто нормализации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47288" y="3127248"/>
            <a:ext cx="2706624" cy="896112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30168" y="321868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96.6%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3630168" y="369417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точность арбитра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91656" y="3127248"/>
            <a:ext cx="2706624" cy="896112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74536" y="321868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14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6574536" y="369417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эндпоинтов API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36024" y="3127248"/>
            <a:ext cx="2706624" cy="896112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18904" y="321868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192</a:t>
            </a:r>
            <a:endParaRPr lang="en-US" sz="2500" dirty="0"/>
          </a:p>
        </p:txBody>
      </p:sp>
      <p:sp>
        <p:nvSpPr>
          <p:cNvPr id="28" name="Text 26"/>
          <p:cNvSpPr/>
          <p:nvPr/>
        </p:nvSpPr>
        <p:spPr>
          <a:xfrm>
            <a:off x="9518904" y="369417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теста зелёные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4983480"/>
            <a:ext cx="73152" cy="73152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" y="489204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Происхождение каждой цифры: файл, страница, строка, уверенность, история.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48640" y="5385816"/>
            <a:ext cx="73152" cy="73152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6384" y="529437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Гибридный AI-каскад с graceful fallback, а не один парсер.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548640" y="5788152"/>
            <a:ext cx="73152" cy="73152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6384" y="569671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909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Живой отчёт о качестве вместо статичной таблицы.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502920" y="6492240"/>
            <a:ext cx="11183112" cy="10973"/>
          </a:xfrm>
          <a:prstGeom prst="rect">
            <a:avLst/>
          </a:prstGeom>
          <a:solidFill>
            <a:srgbClr val="E4E4E7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65379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MedPartners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503920" y="65379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КОМАНДА 113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109960" y="65379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MedPartners</dc:title>
  <dc:subject>PptxGenJS Presentation</dc:subject>
  <dc:creator>Команда 113</dc:creator>
  <cp:lastModifiedBy>Команда 113</cp:lastModifiedBy>
  <cp:revision>1</cp:revision>
  <dcterms:created xsi:type="dcterms:W3CDTF">2026-06-28T13:50:11Z</dcterms:created>
  <dcterms:modified xsi:type="dcterms:W3CDTF">2026-06-28T13:50:11Z</dcterms:modified>
</cp:coreProperties>
</file>