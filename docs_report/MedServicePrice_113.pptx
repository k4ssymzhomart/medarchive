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41732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9AA1A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ХАКАТОН · ТРЕК ДАННЫХ ПРАЙСОВ КЛИНИК</a:t>
            </a:r>
            <a:endParaRPr lang="en-US" sz="1200" dirty="0"/>
          </a:p>
        </p:txBody>
      </p:sp>
      <p:pic>
        <p:nvPicPr>
          <p:cNvPr id="3" name="Image 0" descr="/private/tmp/claude-501/-Users-k4ssym-Documents-medarchive--claude-worktrees-sweet-hermann-f57222/96132712-4d9f-41ef-afff-4d59e1b250bd/scratchpad/deck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2836" y="2148840"/>
            <a:ext cx="3383280" cy="8138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2461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52525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Единая база услуг и цен клиник партнёров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4722876" y="3977640"/>
            <a:ext cx="2743200" cy="0"/>
          </a:xfrm>
          <a:prstGeom prst="line">
            <a:avLst/>
          </a:prstGeom>
          <a:noFill/>
          <a:ln w="12700">
            <a:solidFill>
              <a:srgbClr val="E4E6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0" y="42062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A0A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Конвейер доверия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     </a:t>
            </a:r>
            <a:pPr algn="ctr" indent="0" marL="0">
              <a:buNone/>
            </a:pPr>
            <a:r>
              <a:rPr lang="en-US" sz="1300" dirty="0">
                <a:solidFill>
                  <a:srgbClr val="0A0A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 форматов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     </a:t>
            </a:r>
            <a:pPr algn="ctr" indent="0" marL="0">
              <a:buNone/>
            </a:pPr>
            <a:r>
              <a:rPr lang="en-US" sz="1300" dirty="0">
                <a:solidFill>
                  <a:srgbClr val="0A0A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18 435 позиций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     </a:t>
            </a:r>
            <a:pPr algn="ctr" indent="0" marL="0">
              <a:buNone/>
            </a:pPr>
            <a:r>
              <a:rPr lang="en-US" sz="1300" dirty="0">
                <a:solidFill>
                  <a:srgbClr val="0A0A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Происхождение каждой цифры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878824" y="64008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9AA1A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КОМАНДА 113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9AA1A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10550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Архив прайсов, которому нельзя доверять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2558034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2130552"/>
            <a:ext cx="21556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Пять форматов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8096" y="2532888"/>
            <a:ext cx="2155698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2525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PDF, DOCX, XLS, XLSX и сканы. У каждой клиники свой шаблон, преамбулы и многоуровневые цены.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99282" y="1965960"/>
            <a:ext cx="2558034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00450" y="2130552"/>
            <a:ext cx="21556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Битый OCR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00450" y="2532888"/>
            <a:ext cx="2155698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2525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Текстовый слой повреждён: «Прейскурант иен» вместо «цен». Клиники 2 и 3 требуют переOCR.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31636" y="1965960"/>
            <a:ext cx="2558034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32804" y="2130552"/>
            <a:ext cx="21556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Разные названия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32804" y="2532888"/>
            <a:ext cx="2155698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2525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Одна услуга записана по-разному. ОАК и общий анализ крови нужно свести к одному эталону.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63990" y="1965960"/>
            <a:ext cx="2558034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65158" y="2130552"/>
            <a:ext cx="21556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Нет единой базы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265158" y="2532888"/>
            <a:ext cx="2155698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2525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Цены нельзя сравнить, нет истории и версий. Каждое число без происхождения и проверки.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6355080"/>
            <a:ext cx="11055096" cy="0"/>
          </a:xfrm>
          <a:prstGeom prst="line">
            <a:avLst/>
          </a:prstGeom>
          <a:noFill/>
          <a:ln w="12700">
            <a:solidFill>
              <a:srgbClr val="E4E6EA"/>
            </a:solidFill>
            <a:prstDash val="solid"/>
          </a:ln>
        </p:spPr>
      </p:sp>
      <p:pic>
        <p:nvPicPr>
          <p:cNvPr id="17" name="Image 0" descr="/private/tmp/claude-501/-Users-k4ssym-Documents-medarchive--claude-worktrees-sweet-hermann-f57222/96132712-4d9f-41ef-afff-4d59e1b250bd/scratchpad/deck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437376"/>
            <a:ext cx="758952" cy="1828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964424" y="64008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9AA1A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КОМАНДА 113   ·   02 / 08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9AA1A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АРХИТЕКТУРА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10550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Конвейер доверия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057400"/>
            <a:ext cx="158343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2258568"/>
            <a:ext cx="15102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Маршрутизатор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21792" y="2606040"/>
            <a:ext cx="14737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формат и скан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50364" y="2350008"/>
            <a:ext cx="310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662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61260" y="2057400"/>
            <a:ext cx="158343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97836" y="2258568"/>
            <a:ext cx="15102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Экстракторы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16124" y="2606040"/>
            <a:ext cx="14737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Strategy, 5 форматов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44696" y="2350008"/>
            <a:ext cx="310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662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55592" y="2057400"/>
            <a:ext cx="158343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92168" y="2258568"/>
            <a:ext cx="15102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Нормализация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10456" y="2606040"/>
            <a:ext cx="14737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каскад 0-5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39028" y="2350008"/>
            <a:ext cx="310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662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49924" y="2057400"/>
            <a:ext cx="158343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86500" y="2258568"/>
            <a:ext cx="15102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4788" y="2606040"/>
            <a:ext cx="14737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pgvector + FTS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833360" y="2350008"/>
            <a:ext cx="310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662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44256" y="2057400"/>
            <a:ext cx="158343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80832" y="2258568"/>
            <a:ext cx="15102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FastAPI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199120" y="2606040"/>
            <a:ext cx="14737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14 эндпоинтов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727692" y="2350008"/>
            <a:ext cx="310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662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038588" y="2057400"/>
            <a:ext cx="158343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75164" y="2258568"/>
            <a:ext cx="15102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React UI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93452" y="2606040"/>
            <a:ext cx="14737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очередь оператора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429000"/>
            <a:ext cx="11055096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" y="3429000"/>
            <a:ext cx="10652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62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AI-слой   </a:t>
            </a:r>
            <a:pPr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эмбеддинги (pgvector) · реранк (Cohere) · LLM-арбитр (gpt-4o-mini) — с graceful fallback, без ключа уровень пропускается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6928" y="4251960"/>
            <a:ext cx="11055096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" y="4251960"/>
            <a:ext cx="10652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62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Обработка   </a:t>
            </a:r>
            <a:pPr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загрузка через FastAPI · асинхронный разбор документов через Celery + Redis · хранение и история в PostgreSQL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6928" y="521208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9AA1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СТЕК   FastAPI · PostgreSQL / pgvector · Celery / Redis · React + Vite · Docker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6928" y="6355080"/>
            <a:ext cx="11055096" cy="0"/>
          </a:xfrm>
          <a:prstGeom prst="line">
            <a:avLst/>
          </a:prstGeom>
          <a:noFill/>
          <a:ln w="12700">
            <a:solidFill>
              <a:srgbClr val="E4E6EA"/>
            </a:solidFill>
            <a:prstDash val="solid"/>
          </a:ln>
        </p:spPr>
      </p:sp>
      <p:pic>
        <p:nvPicPr>
          <p:cNvPr id="33" name="Image 0" descr="/private/tmp/claude-501/-Users-k4ssym-Documents-medarchive--claude-worktrees-sweet-hermann-f57222/96132712-4d9f-41ef-afff-4d59e1b250bd/scratchpad/deck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437376"/>
            <a:ext cx="758952" cy="18288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7964424" y="64008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9AA1A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КОМАНДА 113   ·   03 / 08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9AA1A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ИЗВЛЕЧЕНИЕ · КРИТЕРИЙ 30%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10550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Пять форматов, реальный хаос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9202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62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59536" y="1901952"/>
            <a:ext cx="647395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A0A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ПереOCR битых сканов.  </a:t>
            </a:r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2525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Tesseract rus там, где текстовый слой повреждён (Клиники 2 и 3).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259689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62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9536" y="2578608"/>
            <a:ext cx="647395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A0A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Таблицы без линий.  </a:t>
            </a:r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2525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Колонки восстанавливаются по координатам слов, а не по разметке.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327355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62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" y="3255264"/>
            <a:ext cx="647395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A0A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.xls через LibreOffice.  </a:t>
            </a:r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2525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Старый формат конвертируется в xlsx; при сбое мягкий фолбэк.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395020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62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9536" y="3931920"/>
            <a:ext cx="647395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A0A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Tracked changes в DOCX.  </a:t>
            </a:r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2525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Правки принимаются: удаления вырезаются, вставки разворачиваются.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66928" y="462686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62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9536" y="4608576"/>
            <a:ext cx="647395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A0A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Склейка многострочных имён.  </a:t>
            </a:r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2525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Перенесённые названия услуг собираются в одну позицию.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66928" y="5303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62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9536" y="5285232"/>
            <a:ext cx="647395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A0A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Многоуровневые цены.  </a:t>
            </a:r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2525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Резидент, нерезидент и страховой тариф разбираются по колонкам.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589520" y="1920240"/>
            <a:ext cx="4032504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0" y="2066544"/>
            <a:ext cx="3666744" cy="4992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3662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18 435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7772400" y="2368296"/>
            <a:ext cx="366674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извлечённых позиций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589520" y="2990088"/>
            <a:ext cx="4032504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0" y="3136392"/>
            <a:ext cx="3666744" cy="4992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3662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 / 8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7772400" y="3438144"/>
            <a:ext cx="366674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файлов / клиник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589520" y="4059936"/>
            <a:ext cx="4032504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0" y="4206240"/>
            <a:ext cx="3666744" cy="4992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3662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7772400" y="4507992"/>
            <a:ext cx="366674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форматов прайсов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6355080"/>
            <a:ext cx="11055096" cy="0"/>
          </a:xfrm>
          <a:prstGeom prst="line">
            <a:avLst/>
          </a:prstGeom>
          <a:noFill/>
          <a:ln w="12700">
            <a:solidFill>
              <a:srgbClr val="E4E6EA"/>
            </a:solidFill>
            <a:prstDash val="solid"/>
          </a:ln>
        </p:spPr>
      </p:sp>
      <p:pic>
        <p:nvPicPr>
          <p:cNvPr id="26" name="Image 0" descr="/private/tmp/claude-501/-Users-k4ssym-Documents-medarchive--claude-worktrees-sweet-hermann-f57222/96132712-4d9f-41ef-afff-4d59e1b250bd/scratchpad/deck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437376"/>
            <a:ext cx="758952" cy="18288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7964424" y="64008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9AA1A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КОМАНДА 113   ·   04 / 08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9AA1A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НОРМАЛИЗАЦИЯ · КРИТЕРИЙ 25%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10550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Каскад с graceful fallback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384048" cy="384048"/>
          </a:xfrm>
          <a:prstGeom prst="rect">
            <a:avLst/>
          </a:prstGeom>
          <a:solidFill>
            <a:srgbClr val="3662E3"/>
          </a:solidFill>
          <a:ln w="12700">
            <a:solidFill>
              <a:srgbClr val="3662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920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5568" y="192024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Код тарификатора   </a:t>
            </a:r>
            <a:pPr indent="0" marL="0">
              <a:buNone/>
            </a:pPr>
            <a:r>
              <a:rPr lang="en-US" sz="1050" dirty="0">
                <a:solidFill>
                  <a:srgbClr val="9AA1A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детерминированный матч, уверенность 0.98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2523744"/>
            <a:ext cx="384048" cy="384048"/>
          </a:xfrm>
          <a:prstGeom prst="rect">
            <a:avLst/>
          </a:prstGeom>
          <a:solidFill>
            <a:srgbClr val="3662E3"/>
          </a:solidFill>
          <a:ln w="12700">
            <a:solidFill>
              <a:srgbClr val="3662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5237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5568" y="2523744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Точное имя   </a:t>
            </a:r>
            <a:pPr indent="0" marL="0">
              <a:buNone/>
            </a:pPr>
            <a:r>
              <a:rPr lang="en-US" sz="1050" dirty="0">
                <a:solidFill>
                  <a:srgbClr val="9AA1A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после нормализации и раскрытия аббревиатур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3127248"/>
            <a:ext cx="384048" cy="384048"/>
          </a:xfrm>
          <a:prstGeom prst="rect">
            <a:avLst/>
          </a:prstGeom>
          <a:solidFill>
            <a:srgbClr val="3662E3"/>
          </a:solidFill>
          <a:ln w="12700">
            <a:solidFill>
              <a:srgbClr val="3662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31272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15568" y="3127248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Fuzzy (RapidFuzz)   </a:t>
            </a:r>
            <a:pPr indent="0" marL="0">
              <a:buNone/>
            </a:pPr>
            <a:r>
              <a:rPr lang="en-US" sz="1050" dirty="0">
                <a:solidFill>
                  <a:srgbClr val="9AA1A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авто при сходстве ≥ 0.92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3730752"/>
            <a:ext cx="384048" cy="384048"/>
          </a:xfrm>
          <a:prstGeom prst="rect">
            <a:avLst/>
          </a:prstGeom>
          <a:solidFill>
            <a:srgbClr val="3662E3"/>
          </a:solidFill>
          <a:ln w="12700">
            <a:solidFill>
              <a:srgbClr val="3662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730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15568" y="3730752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Эмбеддинги (pgvector)   </a:t>
            </a:r>
            <a:pPr indent="0" marL="0">
              <a:buNone/>
            </a:pPr>
            <a:r>
              <a:rPr lang="en-US" sz="1050" dirty="0">
                <a:solidFill>
                  <a:srgbClr val="9AA1A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recall по смыслу, top-20 кандидатов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4334256"/>
            <a:ext cx="384048" cy="384048"/>
          </a:xfrm>
          <a:prstGeom prst="rect">
            <a:avLst/>
          </a:prstGeom>
          <a:solidFill>
            <a:srgbClr val="3662E3"/>
          </a:solidFill>
          <a:ln w="12700">
            <a:solidFill>
              <a:srgbClr val="3662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43342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15568" y="4334256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Реранк (Cohere)   </a:t>
            </a:r>
            <a:pPr indent="0" marL="0">
              <a:buNone/>
            </a:pPr>
            <a:r>
              <a:rPr lang="en-US" sz="1050" dirty="0">
                <a:solidFill>
                  <a:srgbClr val="9AA1A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уточнение порядка кандидатов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4937760"/>
            <a:ext cx="384048" cy="384048"/>
          </a:xfrm>
          <a:prstGeom prst="rect">
            <a:avLst/>
          </a:prstGeom>
          <a:solidFill>
            <a:srgbClr val="3662E3"/>
          </a:solidFill>
          <a:ln w="12700">
            <a:solidFill>
              <a:srgbClr val="3662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4937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15568" y="493776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LLM-арбитр (gpt-4o-mini)   </a:t>
            </a:r>
            <a:pPr indent="0" marL="0">
              <a:buNone/>
            </a:pPr>
            <a:r>
              <a:rPr lang="en-US" sz="1050" dirty="0">
                <a:solidFill>
                  <a:srgbClr val="9AA1A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спорная зона 0.60 – 0.85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1920240"/>
            <a:ext cx="226771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95160" y="2066544"/>
            <a:ext cx="190195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3662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27.59%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6995160" y="2779776"/>
            <a:ext cx="19019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авто по всем активным позициям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354312" y="1920240"/>
            <a:ext cx="226771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37192" y="2066544"/>
            <a:ext cx="190195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3662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38.04%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9537192" y="2779776"/>
            <a:ext cx="19019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по адресуемому знаменателю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812280" y="3566160"/>
            <a:ext cx="226771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95160" y="3712464"/>
            <a:ext cx="190195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3662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96.6%</a:t>
            </a:r>
            <a:endParaRPr lang="en-US" sz="2700" dirty="0"/>
          </a:p>
        </p:txBody>
      </p:sp>
      <p:sp>
        <p:nvSpPr>
          <p:cNvPr id="30" name="Text 28"/>
          <p:cNvSpPr/>
          <p:nvPr/>
        </p:nvSpPr>
        <p:spPr>
          <a:xfrm>
            <a:off x="6995160" y="4425696"/>
            <a:ext cx="19019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точность авто-матчей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354312" y="3566160"/>
            <a:ext cx="226771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37192" y="3712464"/>
            <a:ext cx="190195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3662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$0.16</a:t>
            </a:r>
            <a:endParaRPr lang="en-US" sz="2700" dirty="0"/>
          </a:p>
        </p:txBody>
      </p:sp>
      <p:sp>
        <p:nvSpPr>
          <p:cNvPr id="33" name="Text 31"/>
          <p:cNvSpPr/>
          <p:nvPr/>
        </p:nvSpPr>
        <p:spPr>
          <a:xfrm>
            <a:off x="9537192" y="4425696"/>
            <a:ext cx="19019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стоимость прогона арбитра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66928" y="580644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1A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Без ключей каскад деградирует мягко: код, точное, fuzzy и поиск работают офлайн.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66928" y="6355080"/>
            <a:ext cx="11055096" cy="0"/>
          </a:xfrm>
          <a:prstGeom prst="line">
            <a:avLst/>
          </a:prstGeom>
          <a:noFill/>
          <a:ln w="12700">
            <a:solidFill>
              <a:srgbClr val="E4E6EA"/>
            </a:solidFill>
            <a:prstDash val="solid"/>
          </a:ln>
        </p:spPr>
      </p:sp>
      <p:pic>
        <p:nvPicPr>
          <p:cNvPr id="36" name="Image 0" descr="/private/tmp/claude-501/-Users-k4ssym-Documents-medarchive--claude-worktrees-sweet-hermann-f57222/96132712-4d9f-41ef-afff-4d59e1b250bd/scratchpad/deck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437376"/>
            <a:ext cx="758952" cy="18288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7964424" y="64008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9AA1A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КОМАНДА 113   ·   05 / 08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9AA1A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ВАЛИДАЦИЯ 20% · API 15%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10550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Проверки, версии, поиск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5344668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2084832"/>
            <a:ext cx="49423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Доверие к данным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8096" y="2487168"/>
            <a:ext cx="4942332" cy="3438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8096" y="2395728"/>
            <a:ext cx="49423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52525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Проверки ТЗ: цена &gt; 0, нерезидент ≥ резидент, дата не из будущего.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68096" y="2871216"/>
            <a:ext cx="49423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52525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Детектор аномалий: скачок цены более 50% уходит на проверку.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68096" y="3346704"/>
            <a:ext cx="49423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52525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Бессрочное версионирование: ничего не удаляется, ведётся история.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68096" y="3822192"/>
            <a:ext cx="49423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52525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Дедупликация одинаковых позиций по дате.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68096" y="5257800"/>
            <a:ext cx="49423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0A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Демо истории:  </a:t>
            </a:r>
            <a:pPr indent="0" marL="0">
              <a:buNone/>
            </a:pPr>
            <a:r>
              <a:rPr lang="en-US" sz="1250" b="1" dirty="0">
                <a:solidFill>
                  <a:srgbClr val="3662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14 400 ₸ (2024, DOCX)  →  16 600 ₸ (2026, PDF)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77356" y="1920240"/>
            <a:ext cx="5344668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8524" y="2084832"/>
            <a:ext cx="49423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API и поиск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78524" y="2487168"/>
            <a:ext cx="4942332" cy="3438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78524" y="2395728"/>
            <a:ext cx="49423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52525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14 REST-эндпоинтов, авто-документация OpenAPI / Swagger на /docs.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78524" y="2871216"/>
            <a:ext cx="49423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52525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Русский полнотекстовый поиск по услугам и партнёрам.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78524" y="3346704"/>
            <a:ext cx="49423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52525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История цен по партнёру и услуге, дашборд качества.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78524" y="3822192"/>
            <a:ext cx="49423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52525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192 теста зелёные, CI на каждый пуш.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78524" y="5257800"/>
            <a:ext cx="48874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AA1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 /search   ·   GET /stats   ·   POST /match   ·   GET /partners/{id}/services/{sid}/history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" y="6355080"/>
            <a:ext cx="11055096" cy="0"/>
          </a:xfrm>
          <a:prstGeom prst="line">
            <a:avLst/>
          </a:prstGeom>
          <a:noFill/>
          <a:ln w="12700">
            <a:solidFill>
              <a:srgbClr val="E4E6EA"/>
            </a:solidFill>
            <a:prstDash val="solid"/>
          </a:ln>
        </p:spPr>
      </p:sp>
      <p:pic>
        <p:nvPicPr>
          <p:cNvPr id="21" name="Image 0" descr="/private/tmp/claude-501/-Users-k4ssym-Documents-medarchive--claude-worktrees-sweet-hermann-f57222/96132712-4d9f-41ef-afff-4d59e1b250bd/scratchpad/deck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437376"/>
            <a:ext cx="758952" cy="18288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964424" y="64008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9AA1A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КОМАНДА 113   ·   06 / 08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9AA1A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UX ОПЕРАТОРА · КРИТЕРИЙ 10%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10550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Человек в контуре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2011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62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59536" y="197510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Очередь верификации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59536" y="2322576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2525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Три колонки: источник, извлечённые данные, кандидаты с уверенностью.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294436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62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9536" y="290779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Горячие клавиши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9536" y="3255264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2525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Подтвердить, отклонить, исправить и выбрать кандидата с клавиатуры.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387705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62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9536" y="38404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Дашборд качества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9536" y="418795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2525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Метрики в реальном времени: матч, форматы, клиники, очереди.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480974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62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9536" y="477316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Поиск и партнёры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9536" y="51206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2525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Полнотекстовый поиск и страница партнёра с историей цен.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07024" y="1901952"/>
            <a:ext cx="5248656" cy="4054309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pic>
        <p:nvPicPr>
          <p:cNvPr id="17" name="Image 0" descr="/private/tmp/claude-501/-Users-k4ssym-Documents-medarchive--claude-worktrees-sweet-hermann-f57222/96132712-4d9f-41ef-afff-4d59e1b250bd/scratchpad/deckbuild/verifi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938528"/>
            <a:ext cx="5175504" cy="3981157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943600" y="6011125"/>
            <a:ext cx="5175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Очередь верификации на реальных данных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66928" y="6355080"/>
            <a:ext cx="11055096" cy="0"/>
          </a:xfrm>
          <a:prstGeom prst="line">
            <a:avLst/>
          </a:prstGeom>
          <a:noFill/>
          <a:ln w="12700">
            <a:solidFill>
              <a:srgbClr val="E4E6EA"/>
            </a:solidFill>
            <a:prstDash val="solid"/>
          </a:ln>
        </p:spPr>
      </p:sp>
      <p:pic>
        <p:nvPicPr>
          <p:cNvPr id="20" name="Image 1" descr="/private/tmp/claude-501/-Users-k4ssym-Documents-medarchive--claude-worktrees-sweet-hermann-f57222/96132712-4d9f-41ef-afff-4d59e1b250bd/scratchpad/deckbuild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437376"/>
            <a:ext cx="758952" cy="182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964424" y="64008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9AA1A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КОМАНДА 113   ·   07 / 08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9AA1A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ИТОГ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10550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Конвейер доверия, а не парсер прайсов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2558034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066544"/>
            <a:ext cx="2192274" cy="5705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3662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49808" y="2505456"/>
            <a:ext cx="21922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форматов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99282" y="1920240"/>
            <a:ext cx="2558034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82162" y="2066544"/>
            <a:ext cx="2192274" cy="5705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3662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18 435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582162" y="2505456"/>
            <a:ext cx="21922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позиций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31636" y="1920240"/>
            <a:ext cx="2558034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4516" y="2066544"/>
            <a:ext cx="2192274" cy="5705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3662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 / 8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414516" y="2505456"/>
            <a:ext cx="21922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файлов / клиник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63990" y="1920240"/>
            <a:ext cx="2558034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46870" y="2066544"/>
            <a:ext cx="2192274" cy="5705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3662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1231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246870" y="2505456"/>
            <a:ext cx="21922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услуга в справочнике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291840"/>
            <a:ext cx="2558034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438144"/>
            <a:ext cx="2192274" cy="5705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3662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27.59%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749808" y="3877056"/>
            <a:ext cx="21922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авто-нормализации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99282" y="3291840"/>
            <a:ext cx="2558034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82162" y="3438144"/>
            <a:ext cx="2192274" cy="5705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3662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96.6%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3582162" y="3877056"/>
            <a:ext cx="21922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точность арбитра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31636" y="3291840"/>
            <a:ext cx="2558034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14516" y="3438144"/>
            <a:ext cx="2192274" cy="5705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3662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14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6414516" y="3877056"/>
            <a:ext cx="21922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эндпоинтов API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063990" y="3291840"/>
            <a:ext cx="2558034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46870" y="3438144"/>
            <a:ext cx="2192274" cy="5705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3662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192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9246870" y="3877056"/>
            <a:ext cx="21922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теста зелёные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6928" y="4892040"/>
            <a:ext cx="1105509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0A0A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Происхождение каждой цифры: файл, страница, строка, уверенность, история.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" y="5303520"/>
            <a:ext cx="1105509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0A0A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Гибридный AI-каскад с graceful fallback, а не один парсер.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66928" y="5715000"/>
            <a:ext cx="1105509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0A0A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Живой отчёт о качестве вместо статичной таблицы.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66928" y="6355080"/>
            <a:ext cx="11055096" cy="0"/>
          </a:xfrm>
          <a:prstGeom prst="line">
            <a:avLst/>
          </a:prstGeom>
          <a:noFill/>
          <a:ln w="12700">
            <a:solidFill>
              <a:srgbClr val="E4E6EA"/>
            </a:solidFill>
            <a:prstDash val="solid"/>
          </a:ln>
        </p:spPr>
      </p:sp>
      <p:pic>
        <p:nvPicPr>
          <p:cNvPr id="32" name="Image 0" descr="/private/tmp/claude-501/-Users-k4ssym-Documents-medarchive--claude-worktrees-sweet-hermann-f57222/96132712-4d9f-41ef-afff-4d59e1b250bd/scratchpad/deck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437376"/>
            <a:ext cx="758952" cy="18288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7964424" y="64008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9AA1A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КОМАНДА 113   ·   08 / 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MedServicePrice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MedServicePrice</dc:title>
  <dc:subject>Единая база услуг и цен клиник партнёров</dc:subject>
  <dc:creator>Команда 113</dc:creator>
  <cp:lastModifiedBy>Команда 113</cp:lastModifiedBy>
  <cp:revision>1</cp:revision>
  <dcterms:created xsi:type="dcterms:W3CDTF">2026-06-28T14:39:10Z</dcterms:created>
  <dcterms:modified xsi:type="dcterms:W3CDTF">2026-06-28T14:39:10Z</dcterms:modified>
</cp:coreProperties>
</file>