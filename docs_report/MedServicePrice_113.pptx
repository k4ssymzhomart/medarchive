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8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Relationship Id="rId1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Relationship Id="rId8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Relationship Id="rId7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4" y="1371600"/>
            <a:ext cx="1280160" cy="1280160"/>
          </a:xfrm>
          <a:prstGeom prst="roundRect">
            <a:avLst>
              <a:gd name="adj" fmla="val 21429"/>
            </a:avLst>
          </a:prstGeom>
          <a:solidFill>
            <a:srgbClr val="6D5EF6"/>
          </a:solidFill>
          <a:ln/>
          <a:effectLst>
            <a:outerShdw sx="100000" sy="100000" kx="0" ky="0" algn="bl" rotWithShape="0" blurRad="228600" dist="50800" dir="5400000">
              <a:srgbClr val="4B3FD6">
                <a:alpha val="50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16459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MedServicePrice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Единая база услуг и цен клиник партнёров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935328" y="4754880"/>
            <a:ext cx="2414016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35328" y="475488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Конвейер доверия к данным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05376" y="4754880"/>
            <a:ext cx="1152144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605376" y="475488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форматов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13552" y="4754880"/>
            <a:ext cx="1488643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013552" y="4754880"/>
            <a:ext cx="14886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18 435 позиций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58227" y="4754880"/>
            <a:ext cx="2498141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758227" y="4754880"/>
            <a:ext cx="24981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Происхождение каждой цифры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640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ХАКАТОН · ТРЕК ДАННЫХ ПРАЙСОВ КЛИНИК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  <p:pic>
        <p:nvPicPr>
          <p:cNvPr id="19" name="Picture 18" descr="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Архив прайсов это хаос, а не база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заранее разобрали все 10 файлов архива и заточили систему под реальные ловушки, а не под учебный датасет.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36" y="2940528"/>
            <a:ext cx="446593" cy="4465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Пять форматов вразнобой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PDF, скан-PDF, DOCX, XLSX и XLS. Каждый со своими ловушками извлечения.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52744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18504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960" y="2940528"/>
            <a:ext cx="446593" cy="4465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41464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Битый встроенный OCR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141464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У Клиник 2 и 3 наивный extract_text даёт мусор «Прейскурант иен». Детектируем и переOCR иваем.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6" y="5007072"/>
            <a:ext cx="446593" cy="4465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Разные названия одной услуги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691640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«ОАК» против «Общий анализ крови». Без нормализации цены не сравнить.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952744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318504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60" y="5007072"/>
            <a:ext cx="446593" cy="4465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41464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единой базы и истории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141464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происхождения цифр, нет версий цен, нет статуса проверки.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  <p:pic>
        <p:nvPicPr>
          <p:cNvPr id="29" name="Picture 28" descr="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АРХИТЕКТУРА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 к данным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Модульный монолит плюс воркер. Новый формат это новый класс экстрактора, ядро не трогается.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58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20" y="2645176"/>
            <a:ext cx="378927" cy="37892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тип файла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78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88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044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20" y="2645176"/>
            <a:ext cx="378927" cy="37892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26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Экстракторы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026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Strategy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764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074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330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20" y="2645176"/>
            <a:ext cx="378927" cy="37892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12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Парсер цен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312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тарифы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50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360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7616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20" y="2645176"/>
            <a:ext cx="378927" cy="37892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98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Валидация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598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аномалии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36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9646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902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645176"/>
            <a:ext cx="378927" cy="378927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884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Нормализация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9884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каскад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740664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232" y="4382536"/>
            <a:ext cx="378927" cy="378927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17320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417320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pgvector + FTS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3904488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197096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41" name="Shape 33"/>
          <p:cNvSpPr/>
          <p:nvPr/>
        </p:nvSpPr>
        <p:spPr>
          <a:xfrm>
            <a:off x="4434840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1408" y="4382536"/>
            <a:ext cx="378927" cy="378927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5111496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FastAPI</a:t>
            </a:r>
            <a:endParaRPr lang="en-US" sz="1500" dirty="0"/>
          </a:p>
        </p:txBody>
      </p:sp>
      <p:sp>
        <p:nvSpPr>
          <p:cNvPr id="44" name="Text 35"/>
          <p:cNvSpPr/>
          <p:nvPr/>
        </p:nvSpPr>
        <p:spPr>
          <a:xfrm>
            <a:off x="5111496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эндпоинтов, OpenAPI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7598664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37"/>
          <p:cNvSpPr/>
          <p:nvPr/>
        </p:nvSpPr>
        <p:spPr>
          <a:xfrm>
            <a:off x="7891272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47" name="Shape 38"/>
          <p:cNvSpPr/>
          <p:nvPr/>
        </p:nvSpPr>
        <p:spPr>
          <a:xfrm>
            <a:off x="8129016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5584" y="4382536"/>
            <a:ext cx="378927" cy="378927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8805672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React UI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8805672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поиск, очереди, дашборд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502920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52" name="Shape 42"/>
          <p:cNvSpPr/>
          <p:nvPr/>
        </p:nvSpPr>
        <p:spPr>
          <a:xfrm>
            <a:off x="704088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53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" y="5564124"/>
            <a:ext cx="338328" cy="338328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1289304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Celery + Redis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асинхронная обработка документов</a:t>
            </a:r>
            <a:endParaRPr lang="en-US" sz="1200" dirty="0"/>
          </a:p>
        </p:txBody>
      </p:sp>
      <p:sp>
        <p:nvSpPr>
          <p:cNvPr id="55" name="Shape 44"/>
          <p:cNvSpPr/>
          <p:nvPr/>
        </p:nvSpPr>
        <p:spPr>
          <a:xfrm>
            <a:off x="6025896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56" name="Shape 45"/>
          <p:cNvSpPr/>
          <p:nvPr/>
        </p:nvSpPr>
        <p:spPr>
          <a:xfrm>
            <a:off x="6227064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57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5564124"/>
            <a:ext cx="338328" cy="338328"/>
          </a:xfrm>
          <a:prstGeom prst="rect">
            <a:avLst/>
          </a:prstGeom>
        </p:spPr>
      </p:pic>
      <p:sp>
        <p:nvSpPr>
          <p:cNvPr id="58" name="Text 46"/>
          <p:cNvSpPr/>
          <p:nvPr/>
        </p:nvSpPr>
        <p:spPr>
          <a:xfrm>
            <a:off x="6812280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слой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эмбеддинги, реранк, LLM-арбитр с graceful fallback</a:t>
            </a:r>
            <a:endParaRPr lang="en-US" sz="1200" dirty="0"/>
          </a:p>
        </p:txBody>
      </p:sp>
      <p:sp>
        <p:nvSpPr>
          <p:cNvPr id="59" name="Text 47"/>
          <p:cNvSpPr/>
          <p:nvPr/>
        </p:nvSpPr>
        <p:spPr>
          <a:xfrm>
            <a:off x="502920" y="62544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FastAPI · PostgreSQL 16 (pgvector + FTS) · Celery + Redis · React + Vite + TypeScript · Docker</a:t>
            </a:r>
            <a:endParaRPr lang="en-US" sz="1000" dirty="0"/>
          </a:p>
        </p:txBody>
      </p:sp>
      <p:sp>
        <p:nvSpPr>
          <p:cNvPr id="60" name="Text 4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62" name="Text 50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63" name="Text 51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  <p:pic>
        <p:nvPicPr>
          <p:cNvPr id="64" name="Picture 63" descr="logo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ИЗВЛЕЧЕНИЕ · КРИТЕРИЙ 30%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форматов, реальный архив,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ловушки вскрыты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4114800" cy="3657600"/>
          </a:xfrm>
          <a:prstGeom prst="roundRect">
            <a:avLst>
              <a:gd name="adj" fmla="val 4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6974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95528" y="3657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позиций извлечено из архива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84248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984248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клиник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91256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91256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2 864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позиций из .xls Клиники 7 через LibreOffice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83480" y="233172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148072" y="243687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753" y="2491557"/>
            <a:ext cx="311262" cy="31126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15000" y="233172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ПереOCR битых сканов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Tesseract с русским языком для Клиник 2 и 3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983480" y="3031236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5148072" y="313639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753" y="3191073"/>
            <a:ext cx="311262" cy="31126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715000" y="3031236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Таблицы без линий разметки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кластеризация слов по координате X в колонки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4983480" y="3730752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148072" y="383590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753" y="3890589"/>
            <a:ext cx="311262" cy="3112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715000" y="3730752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.xls через LibreOffice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headless-конвертация, читаемые русские названия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983480" y="4430268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5148072" y="4535424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753" y="4590105"/>
            <a:ext cx="311262" cy="31126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15000" y="4430268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DOCX с принятием правок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tracked changes применяются до извлечения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983480" y="5129784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5148072" y="523494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753" y="5289621"/>
            <a:ext cx="311262" cy="31126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715000" y="5129784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Склейка многострочных имён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 из нескольких строк собирается целиком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4983480" y="582930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5148072" y="593445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753" y="5989137"/>
            <a:ext cx="311262" cy="31126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715000" y="582930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Многоуровневые тарифы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резидент, нерезидент, страховые, первичный и повторный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40" name="Text 3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  <p:pic>
        <p:nvPicPr>
          <p:cNvPr id="42" name="Picture 41" descr="logo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НОРМАЛИЗАЦИЯ · КРИТЕРИЙ 25%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Каскад нормализации с graceful fallback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642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Каждый уровень дороже и точнее. Без AI-ключей каскад изящно деградирует до лексики, демо не падает.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9224" y="24140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9224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6424" y="22860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Код тарификатора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детерминированно, уверенность 0.98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9224" y="305409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9224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06424" y="2926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Точное совпадение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нормализованное имя, уверенность 1.0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9224" y="369417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6424" y="35661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RapidFuzz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опечатки и перестановки слов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9224" y="433425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9224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" y="420624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 · pgvector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смысл без общих слов, 1231/1231 услуг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49224" y="497433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922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" y="48463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Реранк · Cohere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поднимает верного кандидата в топ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4864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9224" y="56144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9224" y="5614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06424" y="5486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LLM-арбитр · gpt-4o-mini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пограничная зона, пишет обоснование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2286000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629400" y="2322576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27.59%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412480" y="2286000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авто по всем активным позициям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полный арбитр 0.40-0.85, /stats показывает вживую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5080" y="3227832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629400" y="3264408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38.04%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412480" y="3227832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 адресуемому знаменателю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позиции, у которых пара есть в справочнике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4169664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629400" y="4206240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96.6%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8412480" y="4169664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точность авто-матчей арбитра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сверка с код-истиной, выше целевых 85%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55080" y="5111496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629400" y="514807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$0.16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8412480" y="5111496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стоимость прогона арбитра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gpt-4o-mini, вердикты кэшируются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355080" y="616305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Синонимы растут на лету из подтверждений оператора. Эмбеддинги кэшируются: 13 426 текстов.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  <p:pic>
        <p:nvPicPr>
          <p:cNvPr id="46" name="Picture 45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ВАЛИДАЦИЯ · 20%   +   API · 15%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История цены строится сама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5806440" cy="3703320"/>
          </a:xfrm>
          <a:prstGeom prst="roundRect">
            <a:avLst>
              <a:gd name="adj" fmla="val 3951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5054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Версионирование цен · демо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281635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Консультативный приём врача д.м.н., Клиника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14 400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DOCX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947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947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16 600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7947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47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PDF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71800" y="342900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8006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Система сама связала две записи через два формата файлов. Старая цена архивируется, новая ссылается на предыдущую версию. Ничего не удаляется.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2286000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711696" y="2404872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887" y="2469063"/>
            <a:ext cx="365394" cy="36539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360920" y="228600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Все проверки ТЗ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имя, цена, валюта, даты, дубли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145536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711696" y="326440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887" y="3328599"/>
            <a:ext cx="365394" cy="36539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360920" y="3145536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Детектор аномалий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скачок цены больше 50% уходит в очередь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537960" y="4005072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6711696" y="4123944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887" y="4188135"/>
            <a:ext cx="365394" cy="36539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360920" y="4005072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Бессрочное версионирование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is_active + supersedes, полный аудит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6537960" y="4937760"/>
            <a:ext cx="5148072" cy="1051560"/>
          </a:xfrm>
          <a:prstGeom prst="roundRect">
            <a:avLst>
              <a:gd name="adj" fmla="val 10435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6711696" y="513892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  <p:txBody>
          <a:bodyPr/>
          <a:p/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887" y="5203119"/>
            <a:ext cx="365394" cy="36539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60920" y="49377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эндпоинтов · OpenAPI / Swagger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Русский полнотекстовый поиск Postgres, цель ответа ниже 200 мс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  <p:pic>
        <p:nvPicPr>
          <p:cNvPr id="37" name="Picture 36" descr="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UX ОПЕРАТОРА · КРИТЕРИЙ 10%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Денежный экран: очередь без мыши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12064" y="2185416"/>
            <a:ext cx="6693408" cy="335584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medp-deck/shots/verific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240280"/>
            <a:ext cx="658368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2064" y="5550408"/>
            <a:ext cx="6693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Очередь верификации · 3 колонки · горячие клавиши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443216" y="2185416"/>
            <a:ext cx="4270248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8" name="Image 1" descr="/tmp/medp-deck/shots/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0" y="2240280"/>
            <a:ext cx="4160520" cy="1481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43216" y="3785616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Дашборд качества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7443216" y="4105656"/>
            <a:ext cx="2084832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2" descr="/tmp/medp-deck/shots/search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98080" y="4160520"/>
            <a:ext cx="1975104" cy="1325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43216" y="555040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 · русский FTS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9637776" y="4105656"/>
            <a:ext cx="2075688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4" name="Image 3" descr="/tmp/medp-deck/shots/landin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4160520"/>
            <a:ext cx="1965960" cy="1325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55504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Публичный лендинг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18" name="Text 1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  <p:pic>
        <p:nvPicPr>
          <p:cNvPr id="20" name="Picture 19" descr="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доверия, а не парсер прайсов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04088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22376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6432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0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675888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позиций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9944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11112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/ 8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29400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 / клиник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363456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564624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1231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582912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услуга в справочнике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4088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27.59%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722376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авто нормализации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56432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57600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96.6%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3675888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точность арбитра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9944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611112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29400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эндпоинтов API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363456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564624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192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582912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теста зелёные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47488"/>
            <a:ext cx="237744" cy="23774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96112" y="49926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Происхождение каждой цифры: файл, страница, строка, уверенность, история.</a:t>
            </a:r>
            <a:endParaRPr lang="en-US" sz="13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49824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96112" y="5394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Гибридный AI-каскад с graceful fallback, а не один парсер.</a:t>
            </a:r>
            <a:endParaRPr lang="en-US" sz="13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52160"/>
            <a:ext cx="237744" cy="237744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96112" y="579729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Живой отчёт о качестве вместо статичной таблицы.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  <p:txBody>
          <a:bodyPr/>
          <a:p/>
        </p:txBody>
      </p:sp>
      <p:sp>
        <p:nvSpPr>
          <p:cNvPr id="36" name="Text 3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50" dirty="0"/>
          </a:p>
        </p:txBody>
      </p:sp>
      <p:pic>
        <p:nvPicPr>
          <p:cNvPr id="38" name="Picture 37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00800"/>
            <a:ext cx="1565148" cy="237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MedServicePrice</dc:title>
  <dc:subject>PptxGenJS Presentation</dc:subject>
  <dc:creator>Команда 113</dc:creator>
  <cp:lastModifiedBy>Команда 113</cp:lastModifiedBy>
  <cp:revision>1</cp:revision>
  <dcterms:created xsi:type="dcterms:W3CDTF">2026-06-28T13:09:37Z</dcterms:created>
  <dcterms:modified xsi:type="dcterms:W3CDTF">2026-06-28T13:09:37Z</dcterms:modified>
</cp:coreProperties>
</file>